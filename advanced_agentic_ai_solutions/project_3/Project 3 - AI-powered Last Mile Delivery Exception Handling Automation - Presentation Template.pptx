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Nunito SemiBold"/>
      <p:regular r:id="rId20"/>
      <p:bold r:id="rId21"/>
      <p:italic r:id="rId22"/>
      <p:boldItalic r:id="rId23"/>
    </p:embeddedFont>
    <p:embeddedFont>
      <p:font typeface="Nunito"/>
      <p:regular r:id="rId24"/>
      <p:bold r:id="rId25"/>
      <p:italic r:id="rId26"/>
      <p:boldItalic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Nunito ExtraBold"/>
      <p:bold r:id="rId32"/>
      <p:boldItalic r:id="rId33"/>
    </p:embeddedFont>
    <p:embeddedFont>
      <p:font typeface="Century Gothic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C6809C-B369-467B-8E69-1F36B7CC55BE}">
  <a:tblStyle styleId="{C4C6809C-B369-467B-8E69-1F36B7CC55B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emiBold-regular.fntdata"/><Relationship Id="rId22" Type="http://schemas.openxmlformats.org/officeDocument/2006/relationships/font" Target="fonts/NunitoSemiBold-italic.fntdata"/><Relationship Id="rId21" Type="http://schemas.openxmlformats.org/officeDocument/2006/relationships/font" Target="fonts/NunitoSemiBold-bold.fntdata"/><Relationship Id="rId24" Type="http://schemas.openxmlformats.org/officeDocument/2006/relationships/font" Target="fonts/Nunito-regular.fntdata"/><Relationship Id="rId23" Type="http://schemas.openxmlformats.org/officeDocument/2006/relationships/font" Target="fonts/NunitoSemiBold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8" Type="http://schemas.openxmlformats.org/officeDocument/2006/relationships/font" Target="fonts/Montserrat-regular.fntdata"/><Relationship Id="rId27" Type="http://schemas.openxmlformats.org/officeDocument/2006/relationships/font" Target="fonts/Nunito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Montserrat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11" Type="http://schemas.openxmlformats.org/officeDocument/2006/relationships/slide" Target="slides/slide4.xml"/><Relationship Id="rId33" Type="http://schemas.openxmlformats.org/officeDocument/2006/relationships/font" Target="fonts/NunitoExtraBold-boldItalic.fntdata"/><Relationship Id="rId10" Type="http://schemas.openxmlformats.org/officeDocument/2006/relationships/slide" Target="slides/slide3.xml"/><Relationship Id="rId32" Type="http://schemas.openxmlformats.org/officeDocument/2006/relationships/font" Target="fonts/NunitoExtraBold-bold.fntdata"/><Relationship Id="rId13" Type="http://schemas.openxmlformats.org/officeDocument/2006/relationships/slide" Target="slides/slide6.xml"/><Relationship Id="rId35" Type="http://schemas.openxmlformats.org/officeDocument/2006/relationships/font" Target="fonts/CenturyGothic-bold.fntdata"/><Relationship Id="rId12" Type="http://schemas.openxmlformats.org/officeDocument/2006/relationships/slide" Target="slides/slide5.xml"/><Relationship Id="rId34" Type="http://schemas.openxmlformats.org/officeDocument/2006/relationships/font" Target="fonts/CenturyGothic-regular.fntdata"/><Relationship Id="rId15" Type="http://schemas.openxmlformats.org/officeDocument/2006/relationships/slide" Target="slides/slide8.xml"/><Relationship Id="rId37" Type="http://schemas.openxmlformats.org/officeDocument/2006/relationships/font" Target="fonts/CenturyGothic-boldItalic.fntdata"/><Relationship Id="rId14" Type="http://schemas.openxmlformats.org/officeDocument/2006/relationships/slide" Target="slides/slide7.xml"/><Relationship Id="rId36" Type="http://schemas.openxmlformats.org/officeDocument/2006/relationships/font" Target="fonts/CenturyGothic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275fce4f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g3c275fce4f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5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{C4C6809C-B369-467B-8E69-1F36B7CC55BE}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11"/>
          <p:cNvPicPr preferRelativeResize="0"/>
          <p:nvPr/>
        </p:nvPicPr>
        <p:blipFill rotWithShape="1">
          <a:blip r:embed="rId2">
            <a:alphaModFix/>
          </a:blip>
          <a:srcRect b="19149" l="42816" r="37294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1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2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0" type="dt"/>
          </p:nvPr>
        </p:nvSpPr>
        <p:spPr>
          <a:xfrm>
            <a:off x="457200" y="4857749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2640596" y="4857749"/>
            <a:ext cx="550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204396" y="4857749"/>
            <a:ext cx="73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_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90424" y="497078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OBJECT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ctrTitle"/>
          </p:nvPr>
        </p:nvSpPr>
        <p:spPr>
          <a:xfrm>
            <a:off x="2938259" y="1851799"/>
            <a:ext cx="3267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52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OBJECT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OBJECT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4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1" type="ftr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TITLE_AND_BODY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 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25" name="Google Shape;125;p26"/>
          <p:cNvPicPr preferRelativeResize="0"/>
          <p:nvPr/>
        </p:nvPicPr>
        <p:blipFill rotWithShape="1">
          <a:blip r:embed="rId2">
            <a:alphaModFix/>
          </a:blip>
          <a:srcRect b="19147" l="42816" r="37294" t="18360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6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6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Power Ahead!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28" name="Google Shape;1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1" name="Google Shape;131;p27"/>
          <p:cNvSpPr txBox="1"/>
          <p:nvPr>
            <p:ph idx="1" type="subTitle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34" name="Google Shape;134;p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8" name="Google Shape;138;p2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41" name="Google Shape;141;p30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{C4C6809C-B369-467B-8E69-1F36B7CC55BE}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" name="Google Shape;147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3" name="Google Shape;153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7" name="Google Shape;157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8" name="Google Shape;158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59" name="Google Shape;159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7" name="Google Shape;117;p25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" name="Google Shape;118;p2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25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1" name="Google Shape;121;p25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5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"/>
          <p:cNvSpPr txBox="1"/>
          <p:nvPr/>
        </p:nvSpPr>
        <p:spPr>
          <a:xfrm>
            <a:off x="1632725" y="1227550"/>
            <a:ext cx="54111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Presentation Title</a:t>
            </a:r>
            <a:endParaRPr b="1" i="0" sz="41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" name="Google Shape;167;p36"/>
          <p:cNvSpPr txBox="1"/>
          <p:nvPr/>
        </p:nvSpPr>
        <p:spPr>
          <a:xfrm>
            <a:off x="1632725" y="1940550"/>
            <a:ext cx="5199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Project and Course Name</a:t>
            </a:r>
            <a:endParaRPr b="0" i="0" sz="29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" name="Google Shape;168;p36"/>
          <p:cNvSpPr txBox="1"/>
          <p:nvPr/>
        </p:nvSpPr>
        <p:spPr>
          <a:xfrm>
            <a:off x="1632725" y="2586175"/>
            <a:ext cx="117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Date</a:t>
            </a:r>
            <a:endParaRPr b="0" i="0" sz="22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Contents / Agenda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74" name="Google Shape;174;p37"/>
          <p:cNvSpPr/>
          <p:nvPr/>
        </p:nvSpPr>
        <p:spPr>
          <a:xfrm>
            <a:off x="356221" y="11373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" name="Google Shape;175;p37"/>
          <p:cNvSpPr txBox="1"/>
          <p:nvPr/>
        </p:nvSpPr>
        <p:spPr>
          <a:xfrm>
            <a:off x="644599" y="101337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37"/>
          <p:cNvSpPr/>
          <p:nvPr/>
        </p:nvSpPr>
        <p:spPr>
          <a:xfrm>
            <a:off x="356221" y="160868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" name="Google Shape;177;p37"/>
          <p:cNvSpPr txBox="1"/>
          <p:nvPr/>
        </p:nvSpPr>
        <p:spPr>
          <a:xfrm>
            <a:off x="644599" y="148775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Business Problem Overview and Solution Approach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37"/>
          <p:cNvSpPr/>
          <p:nvPr/>
        </p:nvSpPr>
        <p:spPr>
          <a:xfrm>
            <a:off x="356221" y="207999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" name="Google Shape;179;p37"/>
          <p:cNvSpPr txBox="1"/>
          <p:nvPr/>
        </p:nvSpPr>
        <p:spPr>
          <a:xfrm>
            <a:off x="644599" y="196213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Data Loading and Model Initialization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37"/>
          <p:cNvSpPr/>
          <p:nvPr/>
        </p:nvSpPr>
        <p:spPr>
          <a:xfrm>
            <a:off x="356221" y="255129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" name="Google Shape;181;p37"/>
          <p:cNvSpPr txBox="1"/>
          <p:nvPr/>
        </p:nvSpPr>
        <p:spPr>
          <a:xfrm>
            <a:off x="644599" y="243651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Defining Tools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37"/>
          <p:cNvSpPr/>
          <p:nvPr/>
        </p:nvSpPr>
        <p:spPr>
          <a:xfrm>
            <a:off x="356227" y="302260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3" name="Google Shape;183;p37"/>
          <p:cNvSpPr txBox="1"/>
          <p:nvPr/>
        </p:nvSpPr>
        <p:spPr>
          <a:xfrm>
            <a:off x="644605" y="291089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Defining the Multi-Agent System Architecture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37"/>
          <p:cNvSpPr/>
          <p:nvPr/>
        </p:nvSpPr>
        <p:spPr>
          <a:xfrm>
            <a:off x="356227" y="349390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5" name="Google Shape;185;p37"/>
          <p:cNvSpPr txBox="1"/>
          <p:nvPr/>
        </p:nvSpPr>
        <p:spPr>
          <a:xfrm>
            <a:off x="644605" y="338527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Test Cases Execution, Evaluation, and Observability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Executive Summary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91" name="Google Shape;191;p38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2" name="Google Shape;192;p38"/>
          <p:cNvSpPr txBox="1"/>
          <p:nvPr/>
        </p:nvSpPr>
        <p:spPr>
          <a:xfrm>
            <a:off x="691800" y="1327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conclusions and business</a:t>
            </a: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recommendations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Business Problem Overview and Solution Approach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98" name="Google Shape;198;p39"/>
          <p:cNvSpPr/>
          <p:nvPr/>
        </p:nvSpPr>
        <p:spPr>
          <a:xfrm>
            <a:off x="403421" y="1451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9" name="Google Shape;199;p39"/>
          <p:cNvSpPr txBox="1"/>
          <p:nvPr/>
        </p:nvSpPr>
        <p:spPr>
          <a:xfrm>
            <a:off x="691800" y="1327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define the problem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39"/>
          <p:cNvSpPr/>
          <p:nvPr/>
        </p:nvSpPr>
        <p:spPr>
          <a:xfrm>
            <a:off x="403421" y="18329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1" name="Google Shape;201;p39"/>
          <p:cNvSpPr txBox="1"/>
          <p:nvPr/>
        </p:nvSpPr>
        <p:spPr>
          <a:xfrm>
            <a:off x="691800" y="1708975"/>
            <a:ext cx="67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solution approach/methodology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Data Loading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07" name="Google Shape;207;p40"/>
          <p:cNvSpPr/>
          <p:nvPr/>
        </p:nvSpPr>
        <p:spPr>
          <a:xfrm>
            <a:off x="403421" y="1794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8" name="Google Shape;208;p40"/>
          <p:cNvSpPr txBox="1"/>
          <p:nvPr/>
        </p:nvSpPr>
        <p:spPr>
          <a:xfrm>
            <a:off x="691800" y="1686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Describe the attributes of the data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40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0" name="Google Shape;210;p40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List the data used in the solution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40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Model Initialization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17" name="Google Shape;217;p41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8" name="Google Shape;218;p41"/>
          <p:cNvSpPr txBox="1"/>
          <p:nvPr/>
        </p:nvSpPr>
        <p:spPr>
          <a:xfrm>
            <a:off x="691800" y="1305250"/>
            <a:ext cx="810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List the model(s) and parameter(s) used in the solution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41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Defining Tools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25" name="Google Shape;225;p42"/>
          <p:cNvSpPr/>
          <p:nvPr/>
        </p:nvSpPr>
        <p:spPr>
          <a:xfrm>
            <a:off x="403421" y="1490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6" name="Google Shape;226;p42"/>
          <p:cNvSpPr txBox="1"/>
          <p:nvPr/>
        </p:nvSpPr>
        <p:spPr>
          <a:xfrm>
            <a:off x="691800" y="13814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List the tools used by the Multi-Agent System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42"/>
          <p:cNvSpPr/>
          <p:nvPr/>
        </p:nvSpPr>
        <p:spPr>
          <a:xfrm>
            <a:off x="403421" y="1947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8" name="Google Shape;228;p42"/>
          <p:cNvSpPr txBox="1"/>
          <p:nvPr/>
        </p:nvSpPr>
        <p:spPr>
          <a:xfrm>
            <a:off x="691800" y="18386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Describe the functionality of the tools used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42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Defining the Multi-Agent System Architecture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35" name="Google Shape;235;p43"/>
          <p:cNvSpPr/>
          <p:nvPr/>
        </p:nvSpPr>
        <p:spPr>
          <a:xfrm>
            <a:off x="479621" y="1794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" name="Google Shape;236;p43"/>
          <p:cNvSpPr txBox="1"/>
          <p:nvPr/>
        </p:nvSpPr>
        <p:spPr>
          <a:xfrm>
            <a:off x="768000" y="1686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Describe the state of the Multi-Agent System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43"/>
          <p:cNvSpPr/>
          <p:nvPr/>
        </p:nvSpPr>
        <p:spPr>
          <a:xfrm>
            <a:off x="4796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8" name="Google Shape;238;p43"/>
          <p:cNvSpPr txBox="1"/>
          <p:nvPr/>
        </p:nvSpPr>
        <p:spPr>
          <a:xfrm>
            <a:off x="768000" y="1305250"/>
            <a:ext cx="733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Visualize and summarize the overall architecture of the Multi-Agent System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43"/>
          <p:cNvSpPr/>
          <p:nvPr/>
        </p:nvSpPr>
        <p:spPr>
          <a:xfrm>
            <a:off x="477646" y="2195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0" name="Google Shape;240;p43"/>
          <p:cNvSpPr txBox="1"/>
          <p:nvPr/>
        </p:nvSpPr>
        <p:spPr>
          <a:xfrm>
            <a:off x="766025" y="2086450"/>
            <a:ext cx="744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Describe the different sub-agents and nodes of the Multi-Agent System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43"/>
          <p:cNvSpPr/>
          <p:nvPr/>
        </p:nvSpPr>
        <p:spPr>
          <a:xfrm>
            <a:off x="477646" y="2576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" name="Google Shape;242;p43"/>
          <p:cNvSpPr txBox="1"/>
          <p:nvPr/>
        </p:nvSpPr>
        <p:spPr>
          <a:xfrm>
            <a:off x="766025" y="24674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Mention the prompt(s) used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43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4" name="Google Shape;244;p43"/>
          <p:cNvSpPr/>
          <p:nvPr/>
        </p:nvSpPr>
        <p:spPr>
          <a:xfrm>
            <a:off x="479621" y="2956197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5" name="Google Shape;245;p43"/>
          <p:cNvSpPr txBox="1"/>
          <p:nvPr/>
        </p:nvSpPr>
        <p:spPr>
          <a:xfrm>
            <a:off x="768000" y="2847563"/>
            <a:ext cx="7444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Define the Escalation logic used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43"/>
          <p:cNvSpPr/>
          <p:nvPr/>
        </p:nvSpPr>
        <p:spPr>
          <a:xfrm>
            <a:off x="479621" y="3337196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7" name="Google Shape;247;p43"/>
          <p:cNvSpPr txBox="1"/>
          <p:nvPr/>
        </p:nvSpPr>
        <p:spPr>
          <a:xfrm>
            <a:off x="768000" y="3228563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Describe how data and agent security were addressed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Test Cases Execution, Evaluation, and Observability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53" name="Google Shape;253;p44"/>
          <p:cNvSpPr txBox="1"/>
          <p:nvPr/>
        </p:nvSpPr>
        <p:spPr>
          <a:xfrm>
            <a:off x="325250" y="43898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4" name="Google Shape;254;p44"/>
          <p:cNvSpPr/>
          <p:nvPr/>
        </p:nvSpPr>
        <p:spPr>
          <a:xfrm>
            <a:off x="403421" y="2328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5" name="Google Shape;255;p44"/>
          <p:cNvSpPr txBox="1"/>
          <p:nvPr/>
        </p:nvSpPr>
        <p:spPr>
          <a:xfrm>
            <a:off x="691800" y="2219650"/>
            <a:ext cx="675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Share the traces &amp; document citations for all test cases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44"/>
          <p:cNvSpPr/>
          <p:nvPr/>
        </p:nvSpPr>
        <p:spPr>
          <a:xfrm>
            <a:off x="4034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7" name="Google Shape;257;p44"/>
          <p:cNvSpPr txBox="1"/>
          <p:nvPr/>
        </p:nvSpPr>
        <p:spPr>
          <a:xfrm>
            <a:off x="691800" y="1305250"/>
            <a:ext cx="675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List all test cases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44"/>
          <p:cNvSpPr/>
          <p:nvPr/>
        </p:nvSpPr>
        <p:spPr>
          <a:xfrm>
            <a:off x="403421" y="1871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9" name="Google Shape;259;p44"/>
          <p:cNvSpPr txBox="1"/>
          <p:nvPr/>
        </p:nvSpPr>
        <p:spPr>
          <a:xfrm>
            <a:off x="691800" y="1762450"/>
            <a:ext cx="6756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Share the evaluation metrics for all test cases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44"/>
          <p:cNvSpPr/>
          <p:nvPr/>
        </p:nvSpPr>
        <p:spPr>
          <a:xfrm>
            <a:off x="403421" y="27284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1" name="Google Shape;261;p44"/>
          <p:cNvSpPr txBox="1"/>
          <p:nvPr/>
        </p:nvSpPr>
        <p:spPr>
          <a:xfrm>
            <a:off x="691800" y="2619850"/>
            <a:ext cx="73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Comment on the accuracy and relevance of the Multi-Agent System outputs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44"/>
          <p:cNvSpPr/>
          <p:nvPr/>
        </p:nvSpPr>
        <p:spPr>
          <a:xfrm>
            <a:off x="403421" y="3135609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3" name="Google Shape;263;p44"/>
          <p:cNvSpPr txBox="1"/>
          <p:nvPr/>
        </p:nvSpPr>
        <p:spPr>
          <a:xfrm>
            <a:off x="691800" y="3026975"/>
            <a:ext cx="738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Display and comment on the aggregate metrics combining all test cases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5"/>
          <p:cNvSpPr/>
          <p:nvPr/>
        </p:nvSpPr>
        <p:spPr>
          <a:xfrm>
            <a:off x="0" y="3442950"/>
            <a:ext cx="9162600" cy="780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5"/>
          <p:cNvSpPr txBox="1"/>
          <p:nvPr/>
        </p:nvSpPr>
        <p:spPr>
          <a:xfrm>
            <a:off x="32525" y="3526575"/>
            <a:ext cx="441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APPENDIX</a:t>
            </a:r>
            <a:endParaRPr b="1" i="0" sz="2800" u="none" cap="none" strike="noStrike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chemeClr val="lt2"/>
                </a:solidFill>
              </a:rPr>
              <a:t>Slide header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5" name="Google Shape;275;p46"/>
          <p:cNvSpPr/>
          <p:nvPr/>
        </p:nvSpPr>
        <p:spPr>
          <a:xfrm>
            <a:off x="403421" y="1337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6" name="Google Shape;276;p46"/>
          <p:cNvSpPr txBox="1"/>
          <p:nvPr/>
        </p:nvSpPr>
        <p:spPr>
          <a:xfrm>
            <a:off x="691800" y="12290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add any other pointers (if needed)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7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284" name="Google Shape;284;p47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