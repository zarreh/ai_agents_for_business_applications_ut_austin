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Nunito SemiBold"/>
      <p:regular r:id="rId22"/>
      <p:bold r:id="rId23"/>
      <p:italic r:id="rId24"/>
      <p:boldItalic r:id="rId25"/>
    </p:embeddedFont>
    <p:embeddedFont>
      <p:font typeface="Nunito"/>
      <p:regular r:id="rId26"/>
      <p:bold r:id="rId27"/>
      <p:italic r:id="rId28"/>
      <p:boldItalic r:id="rId29"/>
    </p:embeddedFont>
    <p:embeddedFont>
      <p:font typeface="Montserrat"/>
      <p:regular r:id="rId30"/>
      <p:bold r:id="rId31"/>
      <p:italic r:id="rId32"/>
      <p:boldItalic r:id="rId33"/>
    </p:embeddedFont>
    <p:embeddedFont>
      <p:font typeface="Nunito ExtraBold"/>
      <p:bold r:id="rId34"/>
      <p:boldItalic r:id="rId35"/>
    </p:embeddedFont>
    <p:embeddedFont>
      <p:font typeface="Century Gothic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0" roundtripDataSignature="AMtx7mj2wrYygEaYUadP56YWyMmkEy6p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573E6B-62C7-4FA6-A85B-BAD22C9EB968}">
  <a:tblStyle styleId="{B6573E6B-62C7-4FA6-A85B-BAD22C9EB96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3.xml"/><Relationship Id="rId22" Type="http://schemas.openxmlformats.org/officeDocument/2006/relationships/font" Target="fonts/NunitoSemiBold-regular.fntdata"/><Relationship Id="rId21" Type="http://schemas.openxmlformats.org/officeDocument/2006/relationships/slide" Target="slides/slide14.xml"/><Relationship Id="rId24" Type="http://schemas.openxmlformats.org/officeDocument/2006/relationships/font" Target="fonts/NunitoSemiBold-italic.fntdata"/><Relationship Id="rId23" Type="http://schemas.openxmlformats.org/officeDocument/2006/relationships/font" Target="fonts/Nunito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-regular.fntdata"/><Relationship Id="rId25" Type="http://schemas.openxmlformats.org/officeDocument/2006/relationships/font" Target="fonts/NunitoSemiBold-boldItalic.fntdata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unit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4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3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6.xml"/><Relationship Id="rId35" Type="http://schemas.openxmlformats.org/officeDocument/2006/relationships/font" Target="fonts/NunitoExtraBold-boldItalic.fntdata"/><Relationship Id="rId12" Type="http://schemas.openxmlformats.org/officeDocument/2006/relationships/slide" Target="slides/slide5.xml"/><Relationship Id="rId34" Type="http://schemas.openxmlformats.org/officeDocument/2006/relationships/font" Target="fonts/NunitoExtraBold-bold.fntdata"/><Relationship Id="rId15" Type="http://schemas.openxmlformats.org/officeDocument/2006/relationships/slide" Target="slides/slide8.xml"/><Relationship Id="rId37" Type="http://schemas.openxmlformats.org/officeDocument/2006/relationships/font" Target="fonts/CenturyGothic-bold.fntdata"/><Relationship Id="rId14" Type="http://schemas.openxmlformats.org/officeDocument/2006/relationships/slide" Target="slides/slide7.xml"/><Relationship Id="rId36" Type="http://schemas.openxmlformats.org/officeDocument/2006/relationships/font" Target="fonts/CenturyGothic-regular.fntdata"/><Relationship Id="rId17" Type="http://schemas.openxmlformats.org/officeDocument/2006/relationships/slide" Target="slides/slide10.xml"/><Relationship Id="rId39" Type="http://schemas.openxmlformats.org/officeDocument/2006/relationships/font" Target="fonts/CenturyGothic-boldItalic.fntdata"/><Relationship Id="rId16" Type="http://schemas.openxmlformats.org/officeDocument/2006/relationships/slide" Target="slides/slide9.xml"/><Relationship Id="rId38" Type="http://schemas.openxmlformats.org/officeDocument/2006/relationships/font" Target="fonts/CenturyGothic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125bf819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f125bf819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125bf819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f125bf819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125bf819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f125bf819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2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" name="Google Shape;17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1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31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33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{B6573E6B-62C7-4FA6-A85B-BAD22C9EB968}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3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9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39"/>
          <p:cNvPicPr preferRelativeResize="0"/>
          <p:nvPr/>
        </p:nvPicPr>
        <p:blipFill rotWithShape="1">
          <a:blip r:embed="rId2">
            <a:alphaModFix/>
          </a:blip>
          <a:srcRect b="19149" l="42816" r="37293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9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39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0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55" name="Google Shape;55;p40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40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40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1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41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41"/>
          <p:cNvSpPr txBox="1"/>
          <p:nvPr>
            <p:ph idx="12" type="sldNum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2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" name="Google Shape;65;p42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4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42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3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4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43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4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4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44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5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1" name="Google Shape;81;p45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4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45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6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p46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87" name="Google Shape;87;p46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4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46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7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2" name="Google Shape;92;p4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4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47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8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4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48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9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1" name="Google Shape;101;p49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2" name="Google Shape;102;p49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3" name="Google Shape;103;p4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4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49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0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8" name="Google Shape;108;p50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50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50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25" name="Google Shape;125;p30"/>
          <p:cNvPicPr preferRelativeResize="0"/>
          <p:nvPr/>
        </p:nvPicPr>
        <p:blipFill rotWithShape="1">
          <a:blip r:embed="rId2">
            <a:alphaModFix/>
          </a:blip>
          <a:srcRect b="19147" l="42816" r="37293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0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30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28" name="Google Shape;12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3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1" name="Google Shape;131;p53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34" name="Google Shape;134;p5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7" name="Google Shape;137;p5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8" name="Google Shape;138;p5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41" name="Google Shape;141;p56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{B6573E6B-62C7-4FA6-A85B-BAD22C9EB968}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42" name="Google Shape;142;p5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5" name="Google Shape;145;p5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5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5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0" name="Google Shape;150;p5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5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6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6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59" name="Google Shape;159;p6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27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2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27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27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7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16" name="Google Shape;116;p29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7" name="Google Shape;117;p29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" name="Google Shape;118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29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1" name="Google Shape;121;p29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9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/>
          <p:nvPr/>
        </p:nvSpPr>
        <p:spPr>
          <a:xfrm>
            <a:off x="712325" y="1227550"/>
            <a:ext cx="61791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Technical Incident Investigation Assistant</a:t>
            </a:r>
            <a:endParaRPr b="1" i="0" sz="41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711500" y="2550150"/>
            <a:ext cx="8324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- Busin</a:t>
            </a:r>
            <a:r>
              <a:rPr b="0" i="0" lang="en" sz="29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ess Applications with Agentic AI</a:t>
            </a:r>
            <a:endParaRPr b="0" i="0" sz="29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Contents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73" name="Google Shape;173;p2"/>
          <p:cNvSpPr/>
          <p:nvPr/>
        </p:nvSpPr>
        <p:spPr>
          <a:xfrm>
            <a:off x="403421" y="148373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4" name="Google Shape;174;p2"/>
          <p:cNvSpPr txBox="1"/>
          <p:nvPr/>
        </p:nvSpPr>
        <p:spPr>
          <a:xfrm>
            <a:off x="691799" y="1369150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Business Problem Overview and Solution Approach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403421" y="18964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" name="Google Shape;176;p2"/>
          <p:cNvSpPr txBox="1"/>
          <p:nvPr/>
        </p:nvSpPr>
        <p:spPr>
          <a:xfrm>
            <a:off x="691799" y="179132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Loading and Model Initialization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403421" y="229653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403421" y="1070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2"/>
          <p:cNvSpPr txBox="1"/>
          <p:nvPr/>
        </p:nvSpPr>
        <p:spPr>
          <a:xfrm>
            <a:off x="691799" y="9469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"/>
          <p:cNvSpPr txBox="1"/>
          <p:nvPr/>
        </p:nvSpPr>
        <p:spPr>
          <a:xfrm>
            <a:off x="691799" y="2213500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Defining Tools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"/>
          <p:cNvSpPr/>
          <p:nvPr/>
        </p:nvSpPr>
        <p:spPr>
          <a:xfrm>
            <a:off x="403421" y="272686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2" name="Google Shape;182;p2"/>
          <p:cNvSpPr txBox="1"/>
          <p:nvPr/>
        </p:nvSpPr>
        <p:spPr>
          <a:xfrm>
            <a:off x="691799" y="26356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LangGraph Investigation Workflow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"/>
          <p:cNvSpPr/>
          <p:nvPr/>
        </p:nvSpPr>
        <p:spPr>
          <a:xfrm>
            <a:off x="403421" y="31664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4" name="Google Shape;184;p2"/>
          <p:cNvSpPr txBox="1"/>
          <p:nvPr/>
        </p:nvSpPr>
        <p:spPr>
          <a:xfrm>
            <a:off x="691799" y="3057850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Investigation Execution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"/>
          <p:cNvSpPr/>
          <p:nvPr/>
        </p:nvSpPr>
        <p:spPr>
          <a:xfrm>
            <a:off x="403421" y="3594600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6" name="Google Shape;186;p2"/>
          <p:cNvSpPr txBox="1"/>
          <p:nvPr/>
        </p:nvSpPr>
        <p:spPr>
          <a:xfrm>
            <a:off x="691799" y="3480017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Actionable Insights and Business Recommendations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Executive Summary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339425" y="861975"/>
            <a:ext cx="833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Please mention the 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executive summary here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Business Problem Overview and Solution Approach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98" name="Google Shape;198;p4"/>
          <p:cNvSpPr txBox="1"/>
          <p:nvPr/>
        </p:nvSpPr>
        <p:spPr>
          <a:xfrm>
            <a:off x="339425" y="938175"/>
            <a:ext cx="547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Problem Statement</a:t>
            </a:r>
            <a:r>
              <a:rPr b="1" lang="en" sz="12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Please define the problem</a:t>
            </a:r>
            <a:endParaRPr b="0" i="0" sz="1200" u="none" cap="none" strike="noStrike">
              <a:solidFill>
                <a:srgbClr val="000000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373050" y="4530350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311700" y="1383675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Solution Approach: 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Please mention the solution approach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Model Initialization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296450" y="887300"/>
            <a:ext cx="78024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Model Used: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mention about the model used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296450" y="1305325"/>
            <a:ext cx="78024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Model Parameters &amp; Reasoning: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mention about the parameters used and the reasoning behind</a:t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373050" y="4530350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Loading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296450" y="887300"/>
            <a:ext cx="78024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Database Used: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mention the name of dataset used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296450" y="1237825"/>
            <a:ext cx="78024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Preview Data: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mention about the preview of the dataset</a:t>
            </a:r>
            <a:endParaRPr b="1" sz="12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373050" y="4530350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Defining Tools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296450" y="887300"/>
            <a:ext cx="78024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mention about the list of tools 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373050" y="4530350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LangGraph Investigation Workflow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296450" y="921826"/>
            <a:ext cx="7802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Planner Prompt: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the planner prompt</a:t>
            </a:r>
            <a:endParaRPr b="1" sz="12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373050" y="4530350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296450" y="1256725"/>
            <a:ext cx="78024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Agent System Prompt: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the agent system prompt</a:t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296450" y="1593150"/>
            <a:ext cx="7802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Routing Logic: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the routing logic used</a:t>
            </a:r>
            <a:endParaRPr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296450" y="1953000"/>
            <a:ext cx="78024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Visualize Workflow: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visualization of the workflow</a:t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chemeClr val="lt2"/>
                </a:solidFill>
              </a:rPr>
              <a:t>Investigation Execution : Scenario 1</a:t>
            </a:r>
            <a:endParaRPr sz="2400">
              <a:solidFill>
                <a:schemeClr val="lt2"/>
              </a:solidFill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296450" y="887300"/>
            <a:ext cx="7802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Investigation Trigger Prompt: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the Investigation Trigger Prompt</a:t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296454" y="1242320"/>
            <a:ext cx="7802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Agent Investigation Plan: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the Agent Investigation Plan</a:t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296450" y="1597350"/>
            <a:ext cx="7802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Final Investigation Report: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the Final Investigation Report</a:t>
            </a:r>
            <a:endParaRPr b="1" sz="12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296450" y="1952375"/>
            <a:ext cx="7802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Observations: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the Overall Observations</a:t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373050" y="4530350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125bf819c_0_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chemeClr val="lt2"/>
                </a:solidFill>
              </a:rPr>
              <a:t>Investigation Execution : Scenario 2</a:t>
            </a:r>
            <a:endParaRPr sz="2400">
              <a:solidFill>
                <a:schemeClr val="lt2"/>
              </a:solidFill>
            </a:endParaRPr>
          </a:p>
        </p:txBody>
      </p:sp>
      <p:sp>
        <p:nvSpPr>
          <p:cNvPr id="249" name="Google Shape;249;g3f125bf819c_0_6"/>
          <p:cNvSpPr txBox="1"/>
          <p:nvPr/>
        </p:nvSpPr>
        <p:spPr>
          <a:xfrm>
            <a:off x="296450" y="887300"/>
            <a:ext cx="7802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Investigation Trigger Prompt: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the Investigation Trigger Prompt</a:t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0" name="Google Shape;250;g3f125bf819c_0_6"/>
          <p:cNvSpPr txBox="1"/>
          <p:nvPr/>
        </p:nvSpPr>
        <p:spPr>
          <a:xfrm>
            <a:off x="296454" y="1242320"/>
            <a:ext cx="7802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Agent Investigation Plan: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the Agent Investigation Plan</a:t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1" name="Google Shape;251;g3f125bf819c_0_6"/>
          <p:cNvSpPr txBox="1"/>
          <p:nvPr/>
        </p:nvSpPr>
        <p:spPr>
          <a:xfrm>
            <a:off x="296450" y="1597350"/>
            <a:ext cx="7802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Final Investigation Report: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the Final Investigation Report</a:t>
            </a:r>
            <a:endParaRPr b="1" sz="12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2" name="Google Shape;252;g3f125bf819c_0_6"/>
          <p:cNvSpPr txBox="1"/>
          <p:nvPr/>
        </p:nvSpPr>
        <p:spPr>
          <a:xfrm>
            <a:off x="296450" y="1952375"/>
            <a:ext cx="7802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Observations: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the Overall Observations</a:t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3" name="Google Shape;253;g3f125bf819c_0_6"/>
          <p:cNvSpPr txBox="1"/>
          <p:nvPr/>
        </p:nvSpPr>
        <p:spPr>
          <a:xfrm>
            <a:off x="373050" y="4530350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125bf819c_0_1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chemeClr val="lt2"/>
                </a:solidFill>
              </a:rPr>
              <a:t>Investigation Execution : Scenario 3</a:t>
            </a:r>
            <a:endParaRPr sz="2400">
              <a:solidFill>
                <a:schemeClr val="lt2"/>
              </a:solidFill>
            </a:endParaRPr>
          </a:p>
        </p:txBody>
      </p:sp>
      <p:sp>
        <p:nvSpPr>
          <p:cNvPr id="259" name="Google Shape;259;g3f125bf819c_0_14"/>
          <p:cNvSpPr txBox="1"/>
          <p:nvPr/>
        </p:nvSpPr>
        <p:spPr>
          <a:xfrm>
            <a:off x="296450" y="887300"/>
            <a:ext cx="7802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Investigation Trigger Prompt: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the Investigation Trigger Prompt</a:t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0" name="Google Shape;260;g3f125bf819c_0_14"/>
          <p:cNvSpPr txBox="1"/>
          <p:nvPr/>
        </p:nvSpPr>
        <p:spPr>
          <a:xfrm>
            <a:off x="296454" y="1242320"/>
            <a:ext cx="7802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Agent Investigation Plan: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the Agent Investigation Plan</a:t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1" name="Google Shape;261;g3f125bf819c_0_14"/>
          <p:cNvSpPr txBox="1"/>
          <p:nvPr/>
        </p:nvSpPr>
        <p:spPr>
          <a:xfrm>
            <a:off x="296450" y="1597350"/>
            <a:ext cx="7802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Final Investigation Report: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the Final Investigation Report</a:t>
            </a:r>
            <a:endParaRPr b="1" sz="12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2" name="Google Shape;262;g3f125bf819c_0_14"/>
          <p:cNvSpPr txBox="1"/>
          <p:nvPr/>
        </p:nvSpPr>
        <p:spPr>
          <a:xfrm>
            <a:off x="296450" y="1952375"/>
            <a:ext cx="7802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Observations: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the Overall Observations</a:t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3" name="Google Shape;263;g3f125bf819c_0_14"/>
          <p:cNvSpPr txBox="1"/>
          <p:nvPr/>
        </p:nvSpPr>
        <p:spPr>
          <a:xfrm>
            <a:off x="373050" y="4530350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Actionable Insights and Business Recommendations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296450" y="887300"/>
            <a:ext cx="7802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Actionable Insights</a:t>
            </a: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the Actionable Insights</a:t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296450" y="1242325"/>
            <a:ext cx="7802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Business Recommendations</a:t>
            </a:r>
            <a:r>
              <a:rPr b="1" i="0" lang="en" sz="1200" u="none" cap="none" strike="noStrik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share the Business Recommendations</a:t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373050" y="4530350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125bf819c_0_3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Slide Header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77" name="Google Shape;277;g3f125bf819c_0_37"/>
          <p:cNvSpPr txBox="1"/>
          <p:nvPr/>
        </p:nvSpPr>
        <p:spPr>
          <a:xfrm>
            <a:off x="296450" y="887300"/>
            <a:ext cx="7802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add any other pointers (if needed)</a:t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85" name="Google Shape;285;p26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